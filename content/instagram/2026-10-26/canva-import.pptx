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73152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20000">
            <a:off x="603504" y="1234440"/>
            <a:ext cx="6053328" cy="5870448"/>
          </a:xfrm>
          <a:prstGeom prst="rect">
            <a:avLst/>
          </a:prstGeom>
          <a:noFill/>
          <a:ln>
            <a:solidFill>
              <a:srgbClr val="788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0240" y="2423160"/>
            <a:ext cx="3383280" cy="3383280"/>
          </a:xfrm>
          <a:prstGeom prst="ellipse">
            <a:avLst/>
          </a:prstGeom>
          <a:noFill/>
          <a:ln>
            <a:solidFill>
              <a:srgbClr val="858D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80000">
            <a:off x="4114800" y="1691640"/>
            <a:ext cx="1828800" cy="4572000"/>
          </a:xfrm>
          <a:prstGeom prst="rect">
            <a:avLst/>
          </a:prstGeom>
          <a:solidFill>
            <a:srgbClr val="565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731520"/>
            <a:ext cx="6080760" cy="13716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320040"/>
            <a:ext cx="594360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D3CDC2"/>
                </a:solidFill>
                <a:latin typeface="Arial"/>
              </a:rPr>
              <a:t>HANA SCENT ARTIST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5943600" cy="283464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C9C4B6"/>
                </a:solidFill>
                <a:latin typeface="Arial"/>
              </a:rPr>
              <a:t>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47672"/>
            <a:ext cx="6126480" cy="201168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900">
                <a:solidFill>
                  <a:srgbClr val="F1EFE6"/>
                </a:solidFill>
                <a:latin typeface="Noto Serif CJK TC"/>
              </a:rPr>
              <a:t>前景與背景：氣味設計的層次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087368"/>
            <a:ext cx="822960" cy="22860"/>
          </a:xfrm>
          <a:prstGeom prst="rect">
            <a:avLst/>
          </a:prstGeom>
          <a:solidFill>
            <a:srgbClr val="B6A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498848"/>
            <a:ext cx="5852160" cy="237744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300">
                <a:solidFill>
                  <a:srgbClr val="E0DFD8"/>
                </a:solidFill>
                <a:latin typeface="Noto Serif CJK TC"/>
              </a:rPr>
              <a:t>HANA 嗅覺微課 · Day 008</a:t>
            </a:r>
          </a:p>
          <a:p>
            <a:pPr algn="l">
              <a:spcAft>
                <a:spcPts val="600"/>
              </a:spcAft>
            </a:pPr>
            <a:r>
              <a:rPr b="0" sz="2300">
                <a:solidFill>
                  <a:srgbClr val="E0DFD8"/>
                </a:solidFill>
                <a:latin typeface="Noto Serif CJK TC"/>
              </a:rPr>
              <a:t>用一個概念，重新閱讀氣味。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8321040"/>
            <a:ext cx="5961888" cy="12801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8558784"/>
            <a:ext cx="438912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>
                <a:solidFill>
                  <a:srgbClr val="C2BCB0"/>
                </a:solidFill>
                <a:latin typeface="Arial"/>
              </a:rPr>
              <a:t>OLFACTORY ART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2976" y="8513064"/>
            <a:ext cx="1280160" cy="39319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E5E2D5"/>
                </a:solidFill>
                <a:latin typeface="Georgia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3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21420000">
            <a:off x="603504" y="1234440"/>
            <a:ext cx="6053328" cy="5870448"/>
          </a:xfrm>
          <a:prstGeom prst="rect">
            <a:avLst/>
          </a:prstGeom>
          <a:noFill/>
          <a:ln>
            <a:solidFill>
              <a:srgbClr val="788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0240" y="2423160"/>
            <a:ext cx="3383280" cy="3383280"/>
          </a:xfrm>
          <a:prstGeom prst="ellipse">
            <a:avLst/>
          </a:prstGeom>
          <a:noFill/>
          <a:ln>
            <a:solidFill>
              <a:srgbClr val="858D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960000">
            <a:off x="4114800" y="1691640"/>
            <a:ext cx="1828800" cy="4572000"/>
          </a:xfrm>
          <a:prstGeom prst="rect">
            <a:avLst/>
          </a:prstGeom>
          <a:solidFill>
            <a:srgbClr val="565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731520"/>
            <a:ext cx="6080760" cy="13716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320040"/>
            <a:ext cx="594360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D3CDC2"/>
                </a:solidFill>
                <a:latin typeface="Arial"/>
              </a:rPr>
              <a:t>HANA SCENT ARTIST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5943600" cy="283464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C9C4B6"/>
                </a:solidFill>
                <a:latin typeface="Arial"/>
              </a:rPr>
              <a:t>LAYERING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47672"/>
            <a:ext cx="6126480" cy="201168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900">
                <a:solidFill>
                  <a:srgbClr val="F1EFE6"/>
                </a:solidFill>
                <a:latin typeface="Noto Serif CJK TC"/>
              </a:rPr>
              <a:t>不是所有線索都要突出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087368"/>
            <a:ext cx="822960" cy="22860"/>
          </a:xfrm>
          <a:prstGeom prst="rect">
            <a:avLst/>
          </a:prstGeom>
          <a:solidFill>
            <a:srgbClr val="B6A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498848"/>
            <a:ext cx="5852160" cy="237744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300">
                <a:solidFill>
                  <a:srgbClr val="E0DFD8"/>
                </a:solidFill>
                <a:latin typeface="Noto Serif CJK TC"/>
              </a:rPr>
              <a:t>一份作品中可以有主要印象，也能有較安靜的陪襯。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8321040"/>
            <a:ext cx="5961888" cy="12801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8558784"/>
            <a:ext cx="438912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>
                <a:solidFill>
                  <a:srgbClr val="C2BCB0"/>
                </a:solidFill>
                <a:latin typeface="Arial"/>
              </a:rPr>
              <a:t>OLFACTORY ART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2976" y="8513064"/>
            <a:ext cx="1280160" cy="39319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E5E2D5"/>
                </a:solidFill>
                <a:latin typeface="Georgia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3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20000">
            <a:off x="603504" y="1234440"/>
            <a:ext cx="6053328" cy="5870448"/>
          </a:xfrm>
          <a:prstGeom prst="rect">
            <a:avLst/>
          </a:prstGeom>
          <a:noFill/>
          <a:ln>
            <a:solidFill>
              <a:srgbClr val="788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0240" y="2423160"/>
            <a:ext cx="3383280" cy="3383280"/>
          </a:xfrm>
          <a:prstGeom prst="ellipse">
            <a:avLst/>
          </a:prstGeom>
          <a:noFill/>
          <a:ln>
            <a:solidFill>
              <a:srgbClr val="858D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140000">
            <a:off x="4114800" y="1691640"/>
            <a:ext cx="1828800" cy="4572000"/>
          </a:xfrm>
          <a:prstGeom prst="rect">
            <a:avLst/>
          </a:prstGeom>
          <a:solidFill>
            <a:srgbClr val="565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731520"/>
            <a:ext cx="6080760" cy="13716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320040"/>
            <a:ext cx="594360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D3CDC2"/>
                </a:solidFill>
                <a:latin typeface="Arial"/>
              </a:rPr>
              <a:t>HANA SCENT ARTIST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5943600" cy="283464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C9C4B6"/>
                </a:solidFill>
                <a:latin typeface="Arial"/>
              </a:rPr>
              <a:t>FOREGROUND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47672"/>
            <a:ext cx="6126480" cy="201168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900">
                <a:solidFill>
                  <a:srgbClr val="F1EFE6"/>
                </a:solidFill>
                <a:latin typeface="Noto Serif CJK TC"/>
              </a:rPr>
              <a:t>前景引導注意力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087368"/>
            <a:ext cx="822960" cy="22860"/>
          </a:xfrm>
          <a:prstGeom prst="rect">
            <a:avLst/>
          </a:prstGeom>
          <a:solidFill>
            <a:srgbClr val="B6A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498848"/>
            <a:ext cx="5852160" cy="237744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300">
                <a:solidFill>
                  <a:srgbClr val="E0DFD8"/>
                </a:solidFill>
                <a:latin typeface="Noto Serif CJK TC"/>
              </a:rPr>
              <a:t>觀眾最先察覺的特質，往往影響對整體作品的判斷。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8321040"/>
            <a:ext cx="5961888" cy="12801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8558784"/>
            <a:ext cx="438912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>
                <a:solidFill>
                  <a:srgbClr val="C2BCB0"/>
                </a:solidFill>
                <a:latin typeface="Arial"/>
              </a:rPr>
              <a:t>OLFACTORY ART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2976" y="8513064"/>
            <a:ext cx="1280160" cy="39319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E5E2D5"/>
                </a:solidFill>
                <a:latin typeface="Georgia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21420000">
            <a:off x="603504" y="1234440"/>
            <a:ext cx="6053328" cy="5870448"/>
          </a:xfrm>
          <a:prstGeom prst="rect">
            <a:avLst/>
          </a:prstGeom>
          <a:noFill/>
          <a:ln>
            <a:solidFill>
              <a:srgbClr val="788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0240" y="2423160"/>
            <a:ext cx="3383280" cy="3383280"/>
          </a:xfrm>
          <a:prstGeom prst="ellipse">
            <a:avLst/>
          </a:prstGeom>
          <a:noFill/>
          <a:ln>
            <a:solidFill>
              <a:srgbClr val="858D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320000">
            <a:off x="4114800" y="1691640"/>
            <a:ext cx="1828800" cy="4572000"/>
          </a:xfrm>
          <a:prstGeom prst="rect">
            <a:avLst/>
          </a:prstGeom>
          <a:solidFill>
            <a:srgbClr val="565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731520"/>
            <a:ext cx="6080760" cy="13716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320040"/>
            <a:ext cx="594360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D3CDC2"/>
                </a:solidFill>
                <a:latin typeface="Arial"/>
              </a:rPr>
              <a:t>HANA SCENT ARTIST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5943600" cy="283464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C9C4B6"/>
                </a:solidFill>
                <a:latin typeface="Arial"/>
              </a:rPr>
              <a:t>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47672"/>
            <a:ext cx="6126480" cy="201168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900">
                <a:solidFill>
                  <a:srgbClr val="F1EFE6"/>
                </a:solidFill>
                <a:latin typeface="Noto Serif CJK TC"/>
              </a:rPr>
              <a:t>背景建立連續感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087368"/>
            <a:ext cx="822960" cy="22860"/>
          </a:xfrm>
          <a:prstGeom prst="rect">
            <a:avLst/>
          </a:prstGeom>
          <a:solidFill>
            <a:srgbClr val="B6A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498848"/>
            <a:ext cx="5852160" cy="237744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300">
                <a:solidFill>
                  <a:srgbClr val="E0DFD8"/>
                </a:solidFill>
                <a:latin typeface="Noto Serif CJK TC"/>
              </a:rPr>
              <a:t>若輔助元素太搶眼，原本想表達的重點可能被淹沒。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8321040"/>
            <a:ext cx="5961888" cy="12801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8558784"/>
            <a:ext cx="438912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>
                <a:solidFill>
                  <a:srgbClr val="C2BCB0"/>
                </a:solidFill>
                <a:latin typeface="Arial"/>
              </a:rPr>
              <a:t>OLFACTORY ART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2976" y="8513064"/>
            <a:ext cx="1280160" cy="39319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E5E2D5"/>
                </a:solidFill>
                <a:latin typeface="Georgia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6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20000">
            <a:off x="603504" y="1234440"/>
            <a:ext cx="6053328" cy="5870448"/>
          </a:xfrm>
          <a:prstGeom prst="rect">
            <a:avLst/>
          </a:prstGeom>
          <a:noFill/>
          <a:ln>
            <a:solidFill>
              <a:srgbClr val="788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0240" y="2423160"/>
            <a:ext cx="3383280" cy="3383280"/>
          </a:xfrm>
          <a:prstGeom prst="ellipse">
            <a:avLst/>
          </a:prstGeom>
          <a:noFill/>
          <a:ln>
            <a:solidFill>
              <a:srgbClr val="858D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500000">
            <a:off x="4114800" y="1691640"/>
            <a:ext cx="1828800" cy="4572000"/>
          </a:xfrm>
          <a:prstGeom prst="rect">
            <a:avLst/>
          </a:prstGeom>
          <a:solidFill>
            <a:srgbClr val="565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731520"/>
            <a:ext cx="6080760" cy="13716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320040"/>
            <a:ext cx="594360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D3CDC2"/>
                </a:solidFill>
                <a:latin typeface="Arial"/>
              </a:rPr>
              <a:t>HANA SCENT ARTIST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5943600" cy="283464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C9C4B6"/>
                </a:solidFill>
                <a:latin typeface="Arial"/>
              </a:rPr>
              <a:t>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47672"/>
            <a:ext cx="6126480" cy="201168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900">
                <a:solidFill>
                  <a:srgbClr val="F1EFE6"/>
                </a:solidFill>
                <a:latin typeface="Noto Serif CJK TC"/>
              </a:rPr>
              <a:t>回到整體目的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087368"/>
            <a:ext cx="822960" cy="22860"/>
          </a:xfrm>
          <a:prstGeom prst="rect">
            <a:avLst/>
          </a:prstGeom>
          <a:solidFill>
            <a:srgbClr val="B6A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498848"/>
            <a:ext cx="5852160" cy="237744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300">
                <a:solidFill>
                  <a:srgbClr val="E0DFD8"/>
                </a:solidFill>
                <a:latin typeface="Noto Serif CJK TC"/>
              </a:rPr>
              <a:t>層次安排需服從主題，不是越複雜越有價值。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8321040"/>
            <a:ext cx="5961888" cy="12801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8558784"/>
            <a:ext cx="438912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>
                <a:solidFill>
                  <a:srgbClr val="C2BCB0"/>
                </a:solidFill>
                <a:latin typeface="Arial"/>
              </a:rPr>
              <a:t>OLFACTORY ART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2976" y="8513064"/>
            <a:ext cx="1280160" cy="39319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E5E2D5"/>
                </a:solidFill>
                <a:latin typeface="Georgia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32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21420000">
            <a:off x="603504" y="1234440"/>
            <a:ext cx="6053328" cy="5870448"/>
          </a:xfrm>
          <a:prstGeom prst="rect">
            <a:avLst/>
          </a:prstGeom>
          <a:noFill/>
          <a:ln>
            <a:solidFill>
              <a:srgbClr val="788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20240" y="2423160"/>
            <a:ext cx="3383280" cy="3383280"/>
          </a:xfrm>
          <a:prstGeom prst="ellipse">
            <a:avLst/>
          </a:prstGeom>
          <a:noFill/>
          <a:ln>
            <a:solidFill>
              <a:srgbClr val="858D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680000">
            <a:off x="4114800" y="1691640"/>
            <a:ext cx="1828800" cy="4572000"/>
          </a:xfrm>
          <a:prstGeom prst="rect">
            <a:avLst/>
          </a:prstGeom>
          <a:solidFill>
            <a:srgbClr val="565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731520"/>
            <a:ext cx="6080760" cy="13716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320040"/>
            <a:ext cx="594360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D3CDC2"/>
                </a:solidFill>
                <a:latin typeface="Arial"/>
              </a:rPr>
              <a:t>HANA SCENT ARTIST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5943600" cy="283464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200">
                <a:solidFill>
                  <a:srgbClr val="C9C4B6"/>
                </a:solidFill>
                <a:latin typeface="Arial"/>
              </a:rPr>
              <a:t>EXERCISE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47672"/>
            <a:ext cx="6126480" cy="201168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3900">
                <a:solidFill>
                  <a:srgbClr val="F1EFE6"/>
                </a:solidFill>
                <a:latin typeface="Noto Serif CJK TC"/>
              </a:rPr>
              <a:t>今天的觀察練習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087368"/>
            <a:ext cx="822960" cy="22860"/>
          </a:xfrm>
          <a:prstGeom prst="rect">
            <a:avLst/>
          </a:prstGeom>
          <a:solidFill>
            <a:srgbClr val="B6A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498848"/>
            <a:ext cx="5852160" cy="2377440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300">
                <a:solidFill>
                  <a:srgbClr val="E0DFD8"/>
                </a:solidFill>
                <a:latin typeface="Noto Serif CJK TC"/>
              </a:rPr>
              <a:t>描述一個空間：主角是一種材質，背景是一種氣氛。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8321040"/>
            <a:ext cx="5961888" cy="12801"/>
          </a:xfrm>
          <a:prstGeom prst="rect">
            <a:avLst/>
          </a:prstGeom>
          <a:solidFill>
            <a:srgbClr val="8B91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8558784"/>
            <a:ext cx="4389120" cy="30175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100">
                <a:solidFill>
                  <a:srgbClr val="C2BCB0"/>
                </a:solidFill>
                <a:latin typeface="Arial"/>
              </a:rPr>
              <a:t>OLFACTORY ART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2976" y="8513064"/>
            <a:ext cx="1280160" cy="393192"/>
          </a:xfrm>
          <a:prstGeom prst="rect">
            <a:avLst/>
          </a:prstGeom>
          <a:noFill/>
        </p:spPr>
        <p:txBody>
          <a:bodyPr wrap="square" tIns="27432" bIns="0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E5E2D5"/>
                </a:solidFill>
                <a:latin typeface="Georgia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